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7" r:id="rId2"/>
    <p:sldId id="258" r:id="rId3"/>
    <p:sldId id="259" r:id="rId4"/>
    <p:sldId id="260" r:id="rId5"/>
    <p:sldId id="261" r:id="rId6"/>
    <p:sldId id="262" r:id="rId7"/>
    <p:sldId id="263" r:id="rId8"/>
    <p:sldId id="264" r:id="rId9"/>
    <p:sldId id="266"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56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D4F8A5F2-C99B-478D-A093-76CF50E6F6AB}" type="datetimeFigureOut">
              <a:rPr lang="en-US" smtClean="0"/>
              <a:t>30-Nov-25</a:t>
            </a:fld>
            <a:endParaRPr lang="en-US"/>
          </a:p>
        </p:txBody>
      </p:sp>
      <p:sp>
        <p:nvSpPr>
          <p:cNvPr id="16" name="Slide Number Placeholder 15"/>
          <p:cNvSpPr>
            <a:spLocks noGrp="1"/>
          </p:cNvSpPr>
          <p:nvPr>
            <p:ph type="sldNum" sz="quarter" idx="11"/>
          </p:nvPr>
        </p:nvSpPr>
        <p:spPr/>
        <p:txBody>
          <a:bodyPr/>
          <a:lstStyle/>
          <a:p>
            <a:fld id="{FE7C2BDF-3022-43BF-BF66-AD7A3DB9E74C}"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D4F8A5F2-C99B-478D-A093-76CF50E6F6AB}" type="datetimeFigureOut">
              <a:rPr lang="en-US" smtClean="0"/>
              <a:t>30-Nov-25</a:t>
            </a:fld>
            <a:endParaRPr lang="en-US"/>
          </a:p>
        </p:txBody>
      </p:sp>
      <p:sp>
        <p:nvSpPr>
          <p:cNvPr id="15" name="Slide Number Placeholder 14"/>
          <p:cNvSpPr>
            <a:spLocks noGrp="1"/>
          </p:cNvSpPr>
          <p:nvPr>
            <p:ph type="sldNum" sz="quarter" idx="15"/>
          </p:nvPr>
        </p:nvSpPr>
        <p:spPr/>
        <p:txBody>
          <a:bodyPr/>
          <a:lstStyle>
            <a:lvl1pPr algn="ctr">
              <a:defRPr/>
            </a:lvl1pPr>
          </a:lstStyle>
          <a:p>
            <a:fld id="{FE7C2BDF-3022-43BF-BF66-AD7A3DB9E74C}" type="slidenum">
              <a:rPr lang="en-US" smtClean="0"/>
              <a:t>‹#›</a:t>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4F8A5F2-C99B-478D-A093-76CF50E6F6AB}" type="datetimeFigureOut">
              <a:rPr lang="en-US" smtClean="0"/>
              <a:t>30-Nov-25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7C2BDF-3022-43BF-BF66-AD7A3DB9E74C}" type="slidenum">
              <a:rPr lang="en-US" smtClean="0"/>
              <a:t>‹#›</a:t>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4F8A5F2-C99B-478D-A093-76CF50E6F6AB}" type="datetimeFigureOut">
              <a:rPr lang="en-US" smtClean="0"/>
              <a:t>30-Nov-25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7C2BDF-3022-43BF-BF66-AD7A3DB9E74C}" type="slidenum">
              <a:rPr lang="en-US" smtClean="0"/>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FE7C2BDF-3022-43BF-BF66-AD7A3DB9E74C}" type="slidenum">
              <a:rPr lang="en-US" smtClean="0"/>
              <a:t>‹#›</a:t>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D4F8A5F2-C99B-478D-A093-76CF50E6F6AB}" type="datetimeFigureOut">
              <a:rPr lang="en-US" smtClean="0"/>
              <a:t>30-Nov-25</a:t>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4F8A5F2-C99B-478D-A093-76CF50E6F6AB}" type="datetimeFigureOut">
              <a:rPr lang="en-US" smtClean="0"/>
              <a:t>30-Nov-25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7C2BDF-3022-43BF-BF66-AD7A3DB9E74C}" type="slidenum">
              <a:rPr lang="en-US" smtClean="0"/>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F8A5F2-C99B-478D-A093-76CF50E6F6AB}" type="datetimeFigureOut">
              <a:rPr lang="en-US" smtClean="0"/>
              <a:t>30-Nov-25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7C2BDF-3022-43BF-BF66-AD7A3DB9E74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D4F8A5F2-C99B-478D-A093-76CF50E6F6AB}" type="datetimeFigureOut">
              <a:rPr lang="en-US" smtClean="0"/>
              <a:t>30-Nov-25</a:t>
            </a:fld>
            <a:endParaRPr lang="en-US"/>
          </a:p>
        </p:txBody>
      </p:sp>
      <p:sp>
        <p:nvSpPr>
          <p:cNvPr id="9" name="Slide Number Placeholder 8"/>
          <p:cNvSpPr>
            <a:spLocks noGrp="1"/>
          </p:cNvSpPr>
          <p:nvPr>
            <p:ph type="sldNum" sz="quarter" idx="15"/>
          </p:nvPr>
        </p:nvSpPr>
        <p:spPr/>
        <p:txBody>
          <a:bodyPr/>
          <a:lstStyle/>
          <a:p>
            <a:fld id="{FE7C2BDF-3022-43BF-BF66-AD7A3DB9E74C}" type="slidenum">
              <a:rPr lang="en-US" smtClean="0"/>
              <a:t>‹#›</a:t>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D4F8A5F2-C99B-478D-A093-76CF50E6F6AB}" type="datetimeFigureOut">
              <a:rPr lang="en-US" smtClean="0"/>
              <a:t>30-Nov-25</a:t>
            </a:fld>
            <a:endParaRPr lang="en-US"/>
          </a:p>
        </p:txBody>
      </p:sp>
      <p:sp>
        <p:nvSpPr>
          <p:cNvPr id="9" name="Slide Number Placeholder 8"/>
          <p:cNvSpPr>
            <a:spLocks noGrp="1"/>
          </p:cNvSpPr>
          <p:nvPr>
            <p:ph type="sldNum" sz="quarter" idx="11"/>
          </p:nvPr>
        </p:nvSpPr>
        <p:spPr/>
        <p:txBody>
          <a:bodyPr/>
          <a:lstStyle/>
          <a:p>
            <a:fld id="{FE7C2BDF-3022-43BF-BF66-AD7A3DB9E74C}"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4F8A5F2-C99B-478D-A093-76CF50E6F6AB}" type="datetimeFigureOut">
              <a:rPr lang="en-US" smtClean="0"/>
              <a:t>30-Nov-25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7C2BDF-3022-43BF-BF66-AD7A3DB9E74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4F8A5F2-C99B-478D-A093-76CF50E6F6AB}" type="datetimeFigureOut">
              <a:rPr lang="en-US" smtClean="0"/>
              <a:t>30-Nov-25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7C2BDF-3022-43BF-BF66-AD7A3DB9E74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D4F8A5F2-C99B-478D-A093-76CF50E6F6AB}" type="datetimeFigureOut">
              <a:rPr lang="en-US" smtClean="0"/>
              <a:t>30-Nov-25</a:t>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FE7C2BDF-3022-43BF-BF66-AD7A3DB9E74C}" type="slidenum">
              <a:rPr lang="en-US" smtClean="0"/>
              <a:t>‹#›</a:t>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ohitha\Downloads\Gemini_Generated_Image_g0by19g0by19g0by.png"/>
          <p:cNvPicPr>
            <a:picLocks noChangeAspect="1" noChangeArrowheads="1"/>
          </p:cNvPicPr>
          <p:nvPr/>
        </p:nvPicPr>
        <p:blipFill>
          <a:blip r:embed="rId2"/>
          <a:srcRect/>
          <a:stretch>
            <a:fillRect/>
          </a:stretch>
        </p:blipFill>
        <p:spPr bwMode="auto">
          <a:xfrm>
            <a:off x="434249" y="533400"/>
            <a:ext cx="8328752" cy="59436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905001"/>
            <a:ext cx="5105400" cy="4832092"/>
          </a:xfrm>
          <a:prstGeom prst="rect">
            <a:avLst/>
          </a:prstGeom>
        </p:spPr>
        <p:txBody>
          <a:bodyPr wrap="square">
            <a:spAutoFit/>
          </a:bodyPr>
          <a:lstStyle/>
          <a:p>
            <a:r>
              <a:rPr lang="en-US" sz="2800" dirty="0" smtClean="0"/>
              <a:t>Millions of lives are lost every year due to the lack of timely blood, organ, and plasma donations. People in need often struggle to find reliable donors quickly, while willing donors are unaware of opportunities to contribute. This gap leads to critical delays in treatment and sometimes preventable fatalities.</a:t>
            </a:r>
            <a:endParaRPr lang="en-US" sz="2800" dirty="0"/>
          </a:p>
        </p:txBody>
      </p:sp>
      <p:sp>
        <p:nvSpPr>
          <p:cNvPr id="3" name="TextBox 2"/>
          <p:cNvSpPr txBox="1"/>
          <p:nvPr/>
        </p:nvSpPr>
        <p:spPr>
          <a:xfrm>
            <a:off x="152400" y="838200"/>
            <a:ext cx="5334000" cy="646331"/>
          </a:xfrm>
          <a:prstGeom prst="rect">
            <a:avLst/>
          </a:prstGeom>
          <a:noFill/>
        </p:spPr>
        <p:txBody>
          <a:bodyPr wrap="square" rtlCol="0">
            <a:spAutoFit/>
          </a:bodyPr>
          <a:lstStyle/>
          <a:p>
            <a:r>
              <a:rPr lang="en-US" sz="3600" b="1" u="sng" dirty="0" smtClean="0">
                <a:effectLst>
                  <a:outerShdw blurRad="38100" dist="38100" dir="2700000" algn="tl">
                    <a:srgbClr val="000000">
                      <a:alpha val="43137"/>
                    </a:srgbClr>
                  </a:outerShdw>
                </a:effectLst>
              </a:rPr>
              <a:t>PROBLEM STATEMENT</a:t>
            </a:r>
            <a:r>
              <a:rPr lang="en-US" sz="3600" dirty="0" smtClean="0">
                <a:effectLst>
                  <a:outerShdw blurRad="38100" dist="38100" dir="2700000" algn="tl">
                    <a:srgbClr val="000000">
                      <a:alpha val="43137"/>
                    </a:srgbClr>
                  </a:outerShdw>
                </a:effectLst>
              </a:rPr>
              <a:t>:</a:t>
            </a:r>
            <a:endParaRPr lang="en-US" sz="3600" dirty="0">
              <a:effectLst>
                <a:outerShdw blurRad="38100" dist="38100" dir="2700000" algn="tl">
                  <a:srgbClr val="000000">
                    <a:alpha val="43137"/>
                  </a:srgbClr>
                </a:outerShdw>
              </a:effectLst>
            </a:endParaRPr>
          </a:p>
        </p:txBody>
      </p:sp>
      <p:sp>
        <p:nvSpPr>
          <p:cNvPr id="2050" name="AutoShape 2" descr="Image of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Image of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54" name="Picture 6"/>
          <p:cNvPicPr>
            <a:picLocks noChangeAspect="1" noChangeArrowheads="1"/>
          </p:cNvPicPr>
          <p:nvPr/>
        </p:nvPicPr>
        <p:blipFill>
          <a:blip r:embed="rId2"/>
          <a:srcRect/>
          <a:stretch>
            <a:fillRect/>
          </a:stretch>
        </p:blipFill>
        <p:spPr bwMode="auto">
          <a:xfrm>
            <a:off x="5486400" y="609600"/>
            <a:ext cx="3380747" cy="5943600"/>
          </a:xfrm>
          <a:prstGeom prst="rect">
            <a:avLst/>
          </a:prstGeom>
          <a:ln>
            <a:headEnd/>
            <a:tailEnd/>
          </a:ln>
        </p:spPr>
        <p:style>
          <a:lnRef idx="0">
            <a:schemeClr val="accent1"/>
          </a:lnRef>
          <a:fillRef idx="3">
            <a:schemeClr val="accent1"/>
          </a:fillRef>
          <a:effectRef idx="3">
            <a:schemeClr val="accent1"/>
          </a:effectRef>
          <a:fontRef idx="minor">
            <a:schemeClr val="lt1"/>
          </a:fontRef>
        </p:style>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66800"/>
            <a:ext cx="8458200" cy="5632311"/>
          </a:xfrm>
          <a:prstGeom prst="rect">
            <a:avLst/>
          </a:prstGeom>
        </p:spPr>
        <p:txBody>
          <a:bodyPr wrap="square">
            <a:spAutoFit/>
          </a:bodyPr>
          <a:lstStyle/>
          <a:p>
            <a:r>
              <a:rPr lang="en-US" sz="2000" b="1" dirty="0" smtClean="0"/>
              <a:t>Our platform is designed to minimize friction and maximize engagement for the donor, making saving a life as easy as a few taps.</a:t>
            </a:r>
            <a:endParaRPr lang="en-US" sz="2000" dirty="0" smtClean="0"/>
          </a:p>
          <a:p>
            <a:r>
              <a:rPr lang="en-US" sz="2000" b="1" u="sng" dirty="0" smtClean="0">
                <a:solidFill>
                  <a:srgbClr val="FF0000"/>
                </a:solidFill>
              </a:rPr>
              <a:t>Step 1: Register &amp; Profile</a:t>
            </a:r>
            <a:r>
              <a:rPr lang="en-US" sz="2000" b="1" u="sng" dirty="0">
                <a:solidFill>
                  <a:srgbClr val="FF0000"/>
                </a:solidFill>
              </a:rPr>
              <a:t> </a:t>
            </a:r>
            <a:endParaRPr lang="en-US" sz="2000" b="1" u="sng" dirty="0" smtClean="0">
              <a:solidFill>
                <a:srgbClr val="FF0000"/>
              </a:solidFill>
            </a:endParaRPr>
          </a:p>
          <a:p>
            <a:r>
              <a:rPr lang="en-US" sz="2000" dirty="0" smtClean="0"/>
              <a:t>The donor signs up quickly, securely entering their blood type, preferred donation location (home/work), and general availability.</a:t>
            </a:r>
            <a:endParaRPr lang="en-US" sz="2000" dirty="0"/>
          </a:p>
          <a:p>
            <a:r>
              <a:rPr lang="en-US" sz="2000" b="1" dirty="0" smtClean="0"/>
              <a:t> </a:t>
            </a:r>
            <a:r>
              <a:rPr lang="en-US" sz="2000" b="1" u="sng" dirty="0" smtClean="0">
                <a:solidFill>
                  <a:srgbClr val="FF0000"/>
                </a:solidFill>
              </a:rPr>
              <a:t>Step 2: Receive Smart Alert</a:t>
            </a:r>
            <a:endParaRPr lang="en-US" sz="2000" u="sng" dirty="0" smtClean="0">
              <a:solidFill>
                <a:srgbClr val="FF0000"/>
              </a:solidFill>
            </a:endParaRPr>
          </a:p>
          <a:p>
            <a:r>
              <a:rPr lang="en-US" sz="2000" dirty="0" smtClean="0"/>
              <a:t>Our smart matching algorithm immediately connects the donor with the nearest critical need, ensuring the request is tailored to their specific blood type and location.</a:t>
            </a:r>
          </a:p>
          <a:p>
            <a:r>
              <a:rPr lang="en-US" sz="2000" b="1" dirty="0" smtClean="0">
                <a:solidFill>
                  <a:srgbClr val="FF0000"/>
                </a:solidFill>
              </a:rPr>
              <a:t>Step 3: Book &amp; Arrive</a:t>
            </a:r>
          </a:p>
          <a:p>
            <a:r>
              <a:rPr lang="en-US" sz="2000" dirty="0" smtClean="0"/>
              <a:t>The donor confirms their appointment instantly via the app or website. They receive automated reminders, necessary pre-donation information, and directions to the clinic.</a:t>
            </a:r>
          </a:p>
          <a:p>
            <a:r>
              <a:rPr lang="en-US" sz="2000" b="1" dirty="0" smtClean="0">
                <a:solidFill>
                  <a:srgbClr val="FF0000"/>
                </a:solidFill>
              </a:rPr>
              <a:t>Step 4: Track Impact &amp; Engage</a:t>
            </a:r>
            <a:endParaRPr lang="en-US" sz="2000" dirty="0" smtClean="0">
              <a:solidFill>
                <a:srgbClr val="FF0000"/>
              </a:solidFill>
            </a:endParaRPr>
          </a:p>
          <a:p>
            <a:r>
              <a:rPr lang="en-US" sz="2000" dirty="0" smtClean="0"/>
              <a:t>After donation, the donor receives a personalized "Thank You," tracks the general area their donation helped, earns rewards and receives smart reminders for their next eligible donation date.</a:t>
            </a:r>
          </a:p>
          <a:p>
            <a:pPr lvl="1"/>
            <a:endParaRPr lang="en-US" sz="2000" dirty="0"/>
          </a:p>
        </p:txBody>
      </p:sp>
      <p:sp>
        <p:nvSpPr>
          <p:cNvPr id="3" name="TextBox 2"/>
          <p:cNvSpPr txBox="1"/>
          <p:nvPr/>
        </p:nvSpPr>
        <p:spPr>
          <a:xfrm>
            <a:off x="457200" y="304800"/>
            <a:ext cx="8382000" cy="646331"/>
          </a:xfrm>
          <a:prstGeom prst="rect">
            <a:avLst/>
          </a:prstGeom>
          <a:noFill/>
        </p:spPr>
        <p:txBody>
          <a:bodyPr wrap="square" rtlCol="0">
            <a:spAutoFit/>
          </a:bodyPr>
          <a:lstStyle/>
          <a:p>
            <a:r>
              <a:rPr lang="en-US" sz="3600" b="1" u="sng" dirty="0" smtClean="0"/>
              <a:t>WORKING PROCESS OF  LIFEGIVERS:</a:t>
            </a:r>
            <a:endParaRPr lang="en-US" sz="3600" b="1" u="sng"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304800" y="609600"/>
            <a:ext cx="8610601" cy="5791200"/>
          </a:xfrm>
          <a:prstGeom prst="rect">
            <a:avLst/>
          </a:prstGeom>
          <a:ln>
            <a:headEnd/>
            <a:tailEnd/>
          </a:ln>
        </p:spPr>
        <p:style>
          <a:lnRef idx="0">
            <a:schemeClr val="dk1"/>
          </a:lnRef>
          <a:fillRef idx="3">
            <a:schemeClr val="dk1"/>
          </a:fillRef>
          <a:effectRef idx="3">
            <a:schemeClr val="dk1"/>
          </a:effectRef>
          <a:fontRef idx="minor">
            <a:schemeClr val="lt1"/>
          </a:fontRef>
        </p:style>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219200"/>
            <a:ext cx="8077200" cy="5016758"/>
          </a:xfrm>
          <a:prstGeom prst="rect">
            <a:avLst/>
          </a:prstGeom>
        </p:spPr>
        <p:txBody>
          <a:bodyPr wrap="square">
            <a:spAutoFit/>
          </a:bodyPr>
          <a:lstStyle/>
          <a:p>
            <a:r>
              <a:rPr lang="en-US" sz="2000" b="1" dirty="0"/>
              <a:t>  </a:t>
            </a:r>
            <a:r>
              <a:rPr lang="en-US" sz="2000" b="1" dirty="0" smtClean="0"/>
              <a:t>I am building a Donor Retention Platform, not just a donor search tool. Our focus is on predictive matching and sustained engagement.</a:t>
            </a:r>
            <a:endParaRPr lang="en-US" sz="2000" dirty="0" smtClean="0"/>
          </a:p>
          <a:p>
            <a:r>
              <a:rPr lang="en-US" sz="2000" b="1" dirty="0" smtClean="0">
                <a:solidFill>
                  <a:srgbClr val="FF0000"/>
                </a:solidFill>
              </a:rPr>
              <a:t>1. Predictive Demand Modeling (AI-Powered Matching):</a:t>
            </a:r>
            <a:endParaRPr lang="en-US" sz="2000" dirty="0" smtClean="0">
              <a:solidFill>
                <a:srgbClr val="FF0000"/>
              </a:solidFill>
            </a:endParaRPr>
          </a:p>
          <a:p>
            <a:pPr lvl="1"/>
            <a:r>
              <a:rPr lang="en-US" sz="2000" dirty="0" smtClean="0"/>
              <a:t>Unlike static registries, we use </a:t>
            </a:r>
            <a:r>
              <a:rPr lang="en-US" sz="2000" b="1" dirty="0" smtClean="0"/>
              <a:t>Machine Learning</a:t>
            </a:r>
            <a:r>
              <a:rPr lang="en-US" sz="2000" dirty="0" smtClean="0"/>
              <a:t> to anticipate where and when a specific blood type will be needed </a:t>
            </a:r>
            <a:r>
              <a:rPr lang="en-US" sz="2000" i="1" dirty="0" smtClean="0"/>
              <a:t>before</a:t>
            </a:r>
            <a:r>
              <a:rPr lang="en-US" sz="2000" dirty="0" smtClean="0"/>
              <a:t> a critical shortage occurs.</a:t>
            </a:r>
          </a:p>
          <a:p>
            <a:pPr lvl="1"/>
            <a:r>
              <a:rPr lang="en-US" sz="2000" dirty="0" smtClean="0"/>
              <a:t>This ensures we alert the </a:t>
            </a:r>
            <a:r>
              <a:rPr lang="en-US" sz="2000" b="1" dirty="0" smtClean="0"/>
              <a:t>most eligible and local donors</a:t>
            </a:r>
            <a:r>
              <a:rPr lang="en-US" sz="2000" dirty="0" smtClean="0"/>
              <a:t> at the precise moment of maximum impact, reducing blood waste and improving response time.</a:t>
            </a:r>
          </a:p>
          <a:p>
            <a:r>
              <a:rPr lang="en-US" sz="2000" b="1" dirty="0" smtClean="0">
                <a:solidFill>
                  <a:srgbClr val="FF0000"/>
                </a:solidFill>
              </a:rPr>
              <a:t>2. Hyper-Localized &amp; Real-Time Alerts:</a:t>
            </a:r>
            <a:endParaRPr lang="en-US" sz="2000" dirty="0" smtClean="0">
              <a:solidFill>
                <a:srgbClr val="FF0000"/>
              </a:solidFill>
            </a:endParaRPr>
          </a:p>
          <a:p>
            <a:r>
              <a:rPr lang="en-US" sz="2000" dirty="0" smtClean="0"/>
              <a:t>Our geo-location services connect the donor to the nearest </a:t>
            </a:r>
            <a:r>
              <a:rPr lang="en-US" sz="2000" i="1" dirty="0" smtClean="0"/>
              <a:t>active</a:t>
            </a:r>
            <a:r>
              <a:rPr lang="en-US" sz="2000" dirty="0" smtClean="0"/>
              <a:t> donation point (hospital or mobile camp) in seconds, drastically cutting down travel time and administrative delays.</a:t>
            </a:r>
          </a:p>
          <a:p>
            <a:r>
              <a:rPr lang="en-US" sz="2000" i="1" dirty="0" smtClean="0">
                <a:solidFill>
                  <a:srgbClr val="FFFF00"/>
                </a:solidFill>
              </a:rPr>
              <a:t>The result: Higher conversion rates from alert to donation.</a:t>
            </a:r>
            <a:endParaRPr lang="en-US" sz="2000" dirty="0" smtClean="0">
              <a:solidFill>
                <a:srgbClr val="FFFF00"/>
              </a:solidFill>
            </a:endParaRPr>
          </a:p>
          <a:p>
            <a:pPr lvl="1"/>
            <a:endParaRPr lang="en-US" sz="2000" dirty="0" smtClean="0"/>
          </a:p>
        </p:txBody>
      </p:sp>
      <p:sp>
        <p:nvSpPr>
          <p:cNvPr id="5" name="TextBox 4"/>
          <p:cNvSpPr txBox="1"/>
          <p:nvPr/>
        </p:nvSpPr>
        <p:spPr>
          <a:xfrm>
            <a:off x="228600" y="381000"/>
            <a:ext cx="8915400" cy="707886"/>
          </a:xfrm>
          <a:prstGeom prst="rect">
            <a:avLst/>
          </a:prstGeom>
          <a:noFill/>
        </p:spPr>
        <p:txBody>
          <a:bodyPr wrap="square" rtlCol="0">
            <a:spAutoFit/>
          </a:bodyPr>
          <a:lstStyle/>
          <a:p>
            <a:r>
              <a:rPr lang="en-US" sz="4000" u="sng" dirty="0" smtClean="0">
                <a:solidFill>
                  <a:schemeClr val="tx1">
                    <a:lumMod val="95000"/>
                  </a:schemeClr>
                </a:solidFill>
              </a:rPr>
              <a:t>Our Path to Higher Donor Retention:</a:t>
            </a:r>
            <a:endParaRPr lang="en-US" sz="4000" u="sng" dirty="0">
              <a:solidFill>
                <a:schemeClr val="tx1">
                  <a:lumMod val="9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458200" cy="6876574"/>
          </a:xfrm>
          <a:prstGeom prst="rect">
            <a:avLst/>
          </a:prstGeom>
        </p:spPr>
        <p:txBody>
          <a:bodyPr wrap="square">
            <a:spAutoFit/>
          </a:bodyPr>
          <a:lstStyle/>
          <a:p>
            <a:r>
              <a:rPr lang="en-US" sz="4400" b="1" u="sng" dirty="0" smtClean="0"/>
              <a:t>Deployment Plan :</a:t>
            </a:r>
          </a:p>
          <a:p>
            <a:r>
              <a:rPr lang="en-US" sz="2800" b="1" dirty="0" smtClean="0">
                <a:solidFill>
                  <a:srgbClr val="FF0000"/>
                </a:solidFill>
              </a:rPr>
              <a:t>Title: Phase 1: Focused MVP &amp; Pilot Program</a:t>
            </a:r>
          </a:p>
          <a:p>
            <a:r>
              <a:rPr lang="en-US" b="1" dirty="0" smtClean="0"/>
              <a:t>Goal:</a:t>
            </a:r>
            <a:r>
              <a:rPr lang="en-US" dirty="0" smtClean="0"/>
              <a:t> Launch a stable, core product in a single, defined geographic area and secure our first official partnership with a local blood bank.</a:t>
            </a:r>
          </a:p>
          <a:p>
            <a:r>
              <a:rPr lang="en-US" sz="2400" b="1" u="sng" dirty="0" smtClean="0">
                <a:solidFill>
                  <a:srgbClr val="FFFF00"/>
                </a:solidFill>
              </a:rPr>
              <a:t>I. Minimum Viable Product (MVP) Features:</a:t>
            </a:r>
          </a:p>
          <a:p>
            <a:r>
              <a:rPr lang="en-US" dirty="0" smtClean="0"/>
              <a:t>We will launch with the core features necessary to validate our </a:t>
            </a:r>
            <a:r>
              <a:rPr lang="en-US" b="1" dirty="0" smtClean="0"/>
              <a:t>Smart Matching and Donor Retention</a:t>
            </a:r>
            <a:r>
              <a:rPr lang="en-US" dirty="0" smtClean="0"/>
              <a:t> thesis:</a:t>
            </a:r>
          </a:p>
          <a:p>
            <a:r>
              <a:rPr lang="en-US" b="1" dirty="0" smtClean="0"/>
              <a:t>Donor Portal (Web &amp; Mobile):</a:t>
            </a:r>
            <a:r>
              <a:rPr lang="en-US" dirty="0" smtClean="0"/>
              <a:t> User registration, secure profile (Blood Type, Location, Eligibility check), and Donation History tracking.</a:t>
            </a:r>
          </a:p>
          <a:p>
            <a:r>
              <a:rPr lang="en-US" b="1" dirty="0" smtClean="0"/>
              <a:t>Real-Time Need Alert:</a:t>
            </a:r>
            <a:r>
              <a:rPr lang="en-US" dirty="0" smtClean="0"/>
              <a:t> Basic geo-based notification system to alert local donors when a general shortage (by blood type) is reported by the partner facility.</a:t>
            </a:r>
          </a:p>
          <a:p>
            <a:r>
              <a:rPr lang="en-US" b="1" dirty="0" smtClean="0"/>
              <a:t>Simple Appointment Scheduling:</a:t>
            </a:r>
            <a:r>
              <a:rPr lang="en-US" dirty="0" smtClean="0"/>
              <a:t> Allows donors to book a time slot directly at the partner facility through the platform.</a:t>
            </a:r>
          </a:p>
          <a:p>
            <a:r>
              <a:rPr lang="en-US" b="1" dirty="0" smtClean="0"/>
              <a:t>Partner Dashboard (MVP):</a:t>
            </a:r>
            <a:r>
              <a:rPr lang="en-US" dirty="0" smtClean="0"/>
              <a:t> A simple interface for the blood bank to manually input critical needs and view a list of scheduled donor appointments.</a:t>
            </a:r>
          </a:p>
          <a:p>
            <a:r>
              <a:rPr lang="en-US" sz="2400" b="1" u="sng" dirty="0" smtClean="0">
                <a:solidFill>
                  <a:srgbClr val="FFFF00"/>
                </a:solidFill>
              </a:rPr>
              <a:t>II. Strategic Focus Area:</a:t>
            </a:r>
          </a:p>
          <a:p>
            <a:r>
              <a:rPr lang="en-US" b="1" dirty="0" smtClean="0"/>
              <a:t>Geographic Target:</a:t>
            </a:r>
            <a:r>
              <a:rPr lang="en-US" dirty="0" smtClean="0"/>
              <a:t> </a:t>
            </a:r>
            <a:r>
              <a:rPr lang="en-US" b="1" dirty="0" smtClean="0"/>
              <a:t>[City/Region Name]</a:t>
            </a:r>
            <a:r>
              <a:rPr lang="en-US" dirty="0" smtClean="0"/>
              <a:t> (or a specific metropolitan area).</a:t>
            </a:r>
          </a:p>
          <a:p>
            <a:r>
              <a:rPr lang="en-US" b="1" dirty="0" smtClean="0"/>
              <a:t>Reasoning:</a:t>
            </a:r>
            <a:r>
              <a:rPr lang="en-US" dirty="0" smtClean="0"/>
              <a:t> High population density for a large donor pool, presence of </a:t>
            </a:r>
            <a:r>
              <a:rPr lang="en-US" b="1" dirty="0" smtClean="0"/>
              <a:t>[Name a specific hospital/blood bank type]</a:t>
            </a:r>
            <a:r>
              <a:rPr lang="en-US" dirty="0" smtClean="0"/>
              <a:t> for partnership potential, and manageable size for a pilot test.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381000" y="1447800"/>
            <a:ext cx="8417291" cy="4953000"/>
          </a:xfrm>
          <a:prstGeom prst="rect">
            <a:avLst/>
          </a:prstGeom>
          <a:ln>
            <a:headEnd/>
            <a:tailEnd/>
          </a:ln>
        </p:spPr>
        <p:style>
          <a:lnRef idx="0">
            <a:schemeClr val="dk1"/>
          </a:lnRef>
          <a:fillRef idx="3">
            <a:schemeClr val="dk1"/>
          </a:fillRef>
          <a:effectRef idx="3">
            <a:schemeClr val="dk1"/>
          </a:effectRef>
          <a:fontRef idx="minor">
            <a:schemeClr val="lt1"/>
          </a:fontRef>
        </p:style>
      </p:pic>
      <p:sp>
        <p:nvSpPr>
          <p:cNvPr id="3" name="TextBox 2"/>
          <p:cNvSpPr txBox="1"/>
          <p:nvPr/>
        </p:nvSpPr>
        <p:spPr>
          <a:xfrm>
            <a:off x="228600" y="304800"/>
            <a:ext cx="8686800" cy="707886"/>
          </a:xfrm>
          <a:prstGeom prst="rect">
            <a:avLst/>
          </a:prstGeom>
          <a:noFill/>
        </p:spPr>
        <p:txBody>
          <a:bodyPr wrap="square" rtlCol="0">
            <a:spAutoFit/>
          </a:bodyPr>
          <a:lstStyle/>
          <a:p>
            <a:r>
              <a:rPr lang="en-US" sz="4000" b="1" u="sng" dirty="0" smtClean="0"/>
              <a:t>DEPLOYEMENT PLAN: OVERVIEW</a:t>
            </a:r>
            <a:endParaRPr lang="en-US" sz="4000" b="1" u="s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990600"/>
            <a:ext cx="8534400" cy="5262979"/>
          </a:xfrm>
          <a:prstGeom prst="rect">
            <a:avLst/>
          </a:prstGeom>
        </p:spPr>
        <p:txBody>
          <a:bodyPr wrap="square">
            <a:spAutoFit/>
          </a:bodyPr>
          <a:lstStyle/>
          <a:p>
            <a:r>
              <a:rPr lang="en-US" sz="2400" b="1" dirty="0" smtClean="0">
                <a:solidFill>
                  <a:srgbClr val="FF0000"/>
                </a:solidFill>
              </a:rPr>
              <a:t>Core Digital Success Metrics (Focus on Engagement &amp; Retention):</a:t>
            </a:r>
          </a:p>
          <a:p>
            <a:r>
              <a:rPr lang="en-US" sz="2400" dirty="0" smtClean="0"/>
              <a:t>These metrics prove the platform's effectiveness in attracting and keeping donors.</a:t>
            </a:r>
          </a:p>
          <a:p>
            <a:r>
              <a:rPr lang="en-US" sz="2400" b="1" dirty="0" smtClean="0"/>
              <a:t>Donor Conversion Rate (DCR):</a:t>
            </a:r>
            <a:r>
              <a:rPr lang="en-US" sz="2400" dirty="0" smtClean="0"/>
              <a:t> The percentage of users who sign up and successfully complete a first donation.</a:t>
            </a:r>
          </a:p>
          <a:p>
            <a:pPr lvl="1"/>
            <a:r>
              <a:rPr lang="en-US" sz="2400" i="1" dirty="0" smtClean="0">
                <a:solidFill>
                  <a:srgbClr val="FFFF00"/>
                </a:solidFill>
              </a:rPr>
              <a:t>Target:</a:t>
            </a:r>
            <a:r>
              <a:rPr lang="en-US" sz="2400" dirty="0" smtClean="0">
                <a:solidFill>
                  <a:srgbClr val="FFFF00"/>
                </a:solidFill>
              </a:rPr>
              <a:t> </a:t>
            </a:r>
            <a:r>
              <a:rPr lang="en-US" sz="2400" b="1" dirty="0" smtClean="0">
                <a:solidFill>
                  <a:srgbClr val="FFFF00"/>
                </a:solidFill>
              </a:rPr>
              <a:t>&gt;20%</a:t>
            </a:r>
            <a:endParaRPr lang="en-US" sz="2400" dirty="0" smtClean="0">
              <a:solidFill>
                <a:srgbClr val="FFFF00"/>
              </a:solidFill>
            </a:endParaRPr>
          </a:p>
          <a:p>
            <a:r>
              <a:rPr lang="en-US" sz="2400" b="1" dirty="0" smtClean="0"/>
              <a:t>Repeat Donor Rate (RDR):</a:t>
            </a:r>
            <a:r>
              <a:rPr lang="en-US" sz="2400" dirty="0" smtClean="0"/>
              <a:t> The percentage of first-time donors who return within the next eligible period. This is the primary indicator of the </a:t>
            </a:r>
            <a:r>
              <a:rPr lang="en-US" sz="2400" b="1" dirty="0" smtClean="0"/>
              <a:t>Engine's</a:t>
            </a:r>
            <a:r>
              <a:rPr lang="en-US" sz="2400" dirty="0" smtClean="0"/>
              <a:t> success.</a:t>
            </a:r>
          </a:p>
          <a:p>
            <a:pPr lvl="1"/>
            <a:r>
              <a:rPr lang="en-US" sz="2400" i="1" dirty="0" smtClean="0"/>
              <a:t>Target:</a:t>
            </a:r>
            <a:r>
              <a:rPr lang="en-US" sz="2400" dirty="0" smtClean="0"/>
              <a:t> </a:t>
            </a:r>
            <a:r>
              <a:rPr lang="en-US" sz="2400" b="1" dirty="0" smtClean="0"/>
              <a:t>&gt;40% (Year-over-Year)</a:t>
            </a:r>
            <a:endParaRPr lang="en-US" sz="2400" dirty="0" smtClean="0"/>
          </a:p>
          <a:p>
            <a:r>
              <a:rPr lang="en-US" sz="2400" b="1" dirty="0" smtClean="0"/>
              <a:t>Alert-to-Booking Rate:</a:t>
            </a:r>
            <a:r>
              <a:rPr lang="en-US" sz="2400" dirty="0" smtClean="0"/>
              <a:t> The percentage of users who receive a critical need alert and proceed to book an appointment.</a:t>
            </a:r>
          </a:p>
          <a:p>
            <a:pPr lvl="1"/>
            <a:r>
              <a:rPr lang="en-US" sz="2400" i="1" dirty="0" smtClean="0">
                <a:solidFill>
                  <a:srgbClr val="FFFF00"/>
                </a:solidFill>
              </a:rPr>
              <a:t>Target:</a:t>
            </a:r>
            <a:r>
              <a:rPr lang="en-US" sz="2400" dirty="0" smtClean="0">
                <a:solidFill>
                  <a:srgbClr val="FFFF00"/>
                </a:solidFill>
              </a:rPr>
              <a:t> </a:t>
            </a:r>
            <a:r>
              <a:rPr lang="en-US" sz="2400" b="1" dirty="0" smtClean="0">
                <a:solidFill>
                  <a:srgbClr val="FFFF00"/>
                </a:solidFill>
              </a:rPr>
              <a:t>&gt;60%</a:t>
            </a:r>
            <a:endParaRPr lang="en-US" sz="2400" dirty="0">
              <a:solidFill>
                <a:srgbClr val="FFFF00"/>
              </a:solidFill>
            </a:endParaRPr>
          </a:p>
        </p:txBody>
      </p:sp>
      <p:sp>
        <p:nvSpPr>
          <p:cNvPr id="3" name="TextBox 2"/>
          <p:cNvSpPr txBox="1"/>
          <p:nvPr/>
        </p:nvSpPr>
        <p:spPr>
          <a:xfrm>
            <a:off x="381000" y="228600"/>
            <a:ext cx="8382000" cy="523220"/>
          </a:xfrm>
          <a:prstGeom prst="rect">
            <a:avLst/>
          </a:prstGeom>
          <a:noFill/>
        </p:spPr>
        <p:txBody>
          <a:bodyPr wrap="square" rtlCol="0">
            <a:spAutoFit/>
          </a:bodyPr>
          <a:lstStyle/>
          <a:p>
            <a:r>
              <a:rPr lang="en-US" sz="2800" b="1" u="sng" dirty="0" smtClean="0"/>
              <a:t>Measuring Impact: KPIs for Life-Saving Success</a:t>
            </a:r>
            <a:endParaRPr lang="en-US" sz="2800" b="1" u="sn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3" descr="C:\Users\lohitha\Downloads\Gemini_Generated_Image_esqvjoesqvjoesqv.png"/>
          <p:cNvPicPr>
            <a:picLocks noChangeAspect="1" noChangeArrowheads="1"/>
          </p:cNvPicPr>
          <p:nvPr/>
        </p:nvPicPr>
        <p:blipFill>
          <a:blip r:embed="rId2"/>
          <a:srcRect/>
          <a:stretch>
            <a:fillRect/>
          </a:stretch>
        </p:blipFill>
        <p:spPr bwMode="auto">
          <a:xfrm>
            <a:off x="1600200" y="555023"/>
            <a:ext cx="5943600" cy="6150577"/>
          </a:xfrm>
          <a:prstGeom prst="rect">
            <a:avLst/>
          </a:prstGeom>
        </p:spPr>
        <p:style>
          <a:lnRef idx="0">
            <a:schemeClr val="dk1"/>
          </a:lnRef>
          <a:fillRef idx="3">
            <a:schemeClr val="dk1"/>
          </a:fillRef>
          <a:effectRef idx="3">
            <a:schemeClr val="dk1"/>
          </a:effectRef>
          <a:fontRef idx="minor">
            <a:schemeClr val="lt1"/>
          </a:fontRef>
        </p:style>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533400"/>
            <a:ext cx="8382000" cy="5878532"/>
          </a:xfrm>
          <a:prstGeom prst="rect">
            <a:avLst/>
          </a:prstGeom>
        </p:spPr>
        <p:txBody>
          <a:bodyPr wrap="square">
            <a:spAutoFit/>
          </a:bodyPr>
          <a:lstStyle/>
          <a:p>
            <a:r>
              <a:rPr lang="en-US" sz="3600" b="1" u="sng" dirty="0" smtClean="0"/>
              <a:t>Title: The Future of Blood Donation: </a:t>
            </a:r>
            <a:r>
              <a:rPr lang="en-US" sz="3200" b="1" u="sng" dirty="0" smtClean="0"/>
              <a:t>Investing in Life Givers </a:t>
            </a:r>
          </a:p>
          <a:p>
            <a:r>
              <a:rPr lang="en-US" sz="2400" b="1" dirty="0" smtClean="0">
                <a:solidFill>
                  <a:srgbClr val="FF0000"/>
                </a:solidFill>
              </a:rPr>
              <a:t>The Challenge is Clear:</a:t>
            </a:r>
            <a:r>
              <a:rPr lang="en-US" sz="2400" dirty="0" smtClean="0">
                <a:solidFill>
                  <a:srgbClr val="FF0000"/>
                </a:solidFill>
              </a:rPr>
              <a:t> </a:t>
            </a:r>
            <a:r>
              <a:rPr lang="en-US" sz="2400" dirty="0" smtClean="0"/>
              <a:t>Critical donor shortages persist globally.</a:t>
            </a:r>
          </a:p>
          <a:p>
            <a:r>
              <a:rPr lang="en-US" sz="2400" b="1" dirty="0" smtClean="0">
                <a:solidFill>
                  <a:srgbClr val="FF0000"/>
                </a:solidFill>
              </a:rPr>
              <a:t>The Solution is Here:</a:t>
            </a:r>
            <a:r>
              <a:rPr lang="en-US" sz="2400" dirty="0" smtClean="0">
                <a:solidFill>
                  <a:srgbClr val="FF0000"/>
                </a:solidFill>
              </a:rPr>
              <a:t> </a:t>
            </a:r>
            <a:r>
              <a:rPr lang="en-US" sz="2400" b="1" dirty="0" smtClean="0"/>
              <a:t>Life Givers</a:t>
            </a:r>
            <a:r>
              <a:rPr lang="en-US" sz="2400" dirty="0" smtClean="0"/>
              <a:t> offers a hyper-local, high-retention platform powered by predictive technology .</a:t>
            </a:r>
          </a:p>
          <a:p>
            <a:pPr>
              <a:buFont typeface="Wingdings" pitchFamily="2" charset="2"/>
              <a:buChar char="v"/>
            </a:pPr>
            <a:endParaRPr lang="en-US" sz="2400" dirty="0" smtClean="0"/>
          </a:p>
          <a:p>
            <a:r>
              <a:rPr lang="en-US" sz="3200" b="1" dirty="0" smtClean="0">
                <a:solidFill>
                  <a:srgbClr val="FFFF00"/>
                </a:solidFill>
              </a:rPr>
              <a:t>Join Us:</a:t>
            </a:r>
          </a:p>
          <a:p>
            <a:r>
              <a:rPr lang="en-US" sz="2400" dirty="0" smtClean="0"/>
              <a:t>Invest in </a:t>
            </a:r>
            <a:r>
              <a:rPr lang="en-US" sz="2400" b="1" dirty="0" smtClean="0"/>
              <a:t>Life Givers</a:t>
            </a:r>
            <a:r>
              <a:rPr lang="en-US" sz="2400" dirty="0" smtClean="0"/>
              <a:t> to shift from reactive shortage management to proactive, technology-driven supply stability.</a:t>
            </a:r>
          </a:p>
          <a:p>
            <a:r>
              <a:rPr lang="en-US" sz="2400" b="1" dirty="0" smtClean="0"/>
              <a:t>Let's turn the vision of sustainable blood donation into a reality.</a:t>
            </a:r>
            <a:endParaRPr lang="en-US" sz="2400" dirty="0" smtClean="0"/>
          </a:p>
          <a:p>
            <a:r>
              <a:rPr lang="en-US" sz="2400" b="1" dirty="0" smtClean="0"/>
              <a:t>Contact:</a:t>
            </a:r>
            <a:r>
              <a:rPr lang="en-US" sz="2400" dirty="0" smtClean="0"/>
              <a:t> [lohithasuper7@gmail.com] | [8466833772].</a:t>
            </a:r>
          </a:p>
          <a:p>
            <a:endParaRPr lang="en-US" sz="2400"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129</TotalTime>
  <Words>789</Words>
  <Application>Microsoft Office PowerPoint</Application>
  <PresentationFormat>On-screen Show (4:3)</PresentationFormat>
  <Paragraphs>50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Paper</vt:lpstr>
      <vt:lpstr>Slide 1</vt:lpstr>
      <vt:lpstr>Slide 2</vt:lpstr>
      <vt:lpstr>Slide 3</vt:lpstr>
      <vt:lpstr>Slide 4</vt:lpstr>
      <vt:lpstr>Slide 5</vt:lpstr>
      <vt:lpstr>Slide 6</vt:lpstr>
      <vt:lpstr>Slide 7</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lohitha</dc:creator>
  <cp:lastModifiedBy>lohitha</cp:lastModifiedBy>
  <cp:revision>13</cp:revision>
  <dcterms:created xsi:type="dcterms:W3CDTF">2025-11-30T09:39:42Z</dcterms:created>
  <dcterms:modified xsi:type="dcterms:W3CDTF">2025-11-30T11:49:40Z</dcterms:modified>
</cp:coreProperties>
</file>